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67"/>
    <p:restoredTop sz="94649"/>
  </p:normalViewPr>
  <p:slideViewPr>
    <p:cSldViewPr snapToGrid="0" snapToObjects="1">
      <p:cViewPr varScale="1">
        <p:scale>
          <a:sx n="139" d="100"/>
          <a:sy n="139" d="100"/>
        </p:scale>
        <p:origin x="2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0B2A4A"/>
                </a:solidFill>
              </a:rPr>
              <a:t>Use Case: </a:t>
            </a:r>
            <a:r>
              <a:rPr sz="3000" b="1" dirty="0" err="1">
                <a:solidFill>
                  <a:srgbClr val="0B2A4A"/>
                </a:solidFill>
              </a:rPr>
              <a:t>OpenMythos</a:t>
            </a:r>
            <a:r>
              <a:rPr sz="3000" b="1" dirty="0">
                <a:solidFill>
                  <a:srgbClr val="0B2A4A"/>
                </a:solidFill>
              </a:rPr>
              <a:t> on </a:t>
            </a:r>
            <a:r>
              <a:rPr sz="3000" b="1" dirty="0" err="1">
                <a:solidFill>
                  <a:srgbClr val="0B2A4A"/>
                </a:solidFill>
              </a:rPr>
              <a:t>BlueVela</a:t>
            </a:r>
            <a:r>
              <a:rPr sz="3000" b="1" dirty="0">
                <a:solidFill>
                  <a:srgbClr val="0B2A4A"/>
                </a:solidFill>
              </a:rPr>
              <a:t>: the cost of remote R&amp;D</a:t>
            </a:r>
          </a:p>
          <a:p>
            <a:r>
              <a:rPr sz="1400" i="1" dirty="0">
                <a:solidFill>
                  <a:srgbClr val="555555"/>
                </a:solidFill>
              </a:rPr>
              <a:t>Recurrent-Depth Transformer </a:t>
            </a:r>
            <a:r>
              <a:rPr sz="1400" i="1" dirty="0" err="1">
                <a:solidFill>
                  <a:srgbClr val="555555"/>
                </a:solidFill>
              </a:rPr>
              <a:t>bringup</a:t>
            </a:r>
            <a:r>
              <a:rPr sz="1400" i="1" dirty="0">
                <a:solidFill>
                  <a:srgbClr val="555555"/>
                </a:solidFill>
              </a:rPr>
              <a:t> — Apr 22–24,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11111"/>
                </a:solidFill>
              </a:rPr>
              <a:t>• OpenMythos: open reconstruction of a Recurrent-Depth Transformer (Prelude → looped Recurrent block → Coda) with ACT halting, depth-wise LoRA, fine-grained MoE, switchable GQA/MLA attention.</a:t>
            </a:r>
          </a:p>
          <a:p>
            <a:r>
              <a:rPr sz="1300">
                <a:solidFill>
                  <a:srgbClr val="111111"/>
                </a:solidFill>
              </a:rPr>
              <a:t>• Current effort: develop the model and bring a 1B-param PoC to reliable training on BlueVela (remote GPU cluster, LSF scheduler, no internet on compute nodes).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55555"/>
                </a:solidFill>
              </a:rPr>
              <a:t>Inner loop — every code change: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88920"/>
            <a:ext cx="1572768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1100" b="1" dirty="0">
                <a:solidFill>
                  <a:srgbClr val="0B2A4A"/>
                </a:solidFill>
              </a:rPr>
              <a:t>edit locally</a:t>
            </a:r>
            <a:r>
              <a:rPr lang="en-US" sz="1100" b="1" dirty="0">
                <a:solidFill>
                  <a:srgbClr val="0B2A4A"/>
                </a:solidFill>
              </a:rPr>
              <a:t> (laptop)</a:t>
            </a:r>
            <a:endParaRPr sz="1100" b="1" dirty="0">
              <a:solidFill>
                <a:srgbClr val="0B2A4A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075688" y="2788920"/>
            <a:ext cx="1572768" cy="502920"/>
          </a:xfrm>
          <a:prstGeom prst="round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1100" b="1">
                <a:solidFill>
                  <a:srgbClr val="FFFFFF"/>
                </a:solidFill>
              </a:rPr>
              <a:t>git commit/push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94176" y="2788920"/>
            <a:ext cx="1572768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1100" b="1">
                <a:solidFill>
                  <a:srgbClr val="0B2A4A"/>
                </a:solidFill>
              </a:rPr>
              <a:t>SSH git pull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12664" y="2788920"/>
            <a:ext cx="1572768" cy="502920"/>
          </a:xfrm>
          <a:prstGeom prst="round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1100" b="1">
                <a:solidFill>
                  <a:srgbClr val="FFFFFF"/>
                </a:solidFill>
              </a:rPr>
              <a:t>SSH bsub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31152" y="2788920"/>
            <a:ext cx="1572768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1100" b="1">
                <a:solidFill>
                  <a:srgbClr val="0B2A4A"/>
                </a:solidFill>
              </a:rPr>
              <a:t>SSH bpeek / tail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2788920"/>
            <a:ext cx="1572768" cy="502920"/>
          </a:xfrm>
          <a:prstGeom prst="round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1100" b="1">
                <a:solidFill>
                  <a:srgbClr val="FFFFFF"/>
                </a:solidFill>
              </a:rPr>
              <a:t>diagnose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68128" y="2788920"/>
            <a:ext cx="1572768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1100" b="1">
                <a:solidFill>
                  <a:srgbClr val="0B2A4A"/>
                </a:solidFill>
              </a:rPr>
              <a:t>repeat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56692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C93C20"/>
                </a:solidFill>
              </a:rPr>
              <a:t>The comms overhead</a:t>
            </a:r>
          </a:p>
          <a:p>
            <a:r>
              <a:rPr sz="1200" dirty="0">
                <a:solidFill>
                  <a:srgbClr val="111111"/>
                </a:solidFill>
              </a:rPr>
              <a:t>• ~475 SSH connections in 3 days across 4 Claude Code sessions</a:t>
            </a:r>
          </a:p>
          <a:p>
            <a:r>
              <a:rPr sz="1200" dirty="0">
                <a:solidFill>
                  <a:srgbClr val="111111"/>
                </a:solidFill>
              </a:rPr>
              <a:t>• ~214 direct commands + ~260 monitor-loop polls</a:t>
            </a:r>
          </a:p>
          <a:p>
            <a:r>
              <a:rPr sz="1200" dirty="0">
                <a:solidFill>
                  <a:srgbClr val="111111"/>
                </a:solidFill>
              </a:rPr>
              <a:t>• 20 LSF jobs submitted; most failed iteratively:</a:t>
            </a:r>
          </a:p>
          <a:p>
            <a:r>
              <a:rPr sz="1200" dirty="0">
                <a:solidFill>
                  <a:srgbClr val="111111"/>
                </a:solidFill>
              </a:rPr>
              <a:t>• 5 rounds of FSDP mixed-precision </a:t>
            </a:r>
            <a:r>
              <a:rPr sz="1200" dirty="0" err="1">
                <a:solidFill>
                  <a:srgbClr val="111111"/>
                </a:solidFill>
              </a:rPr>
              <a:t>dtype</a:t>
            </a:r>
            <a:r>
              <a:rPr sz="1200" dirty="0">
                <a:solidFill>
                  <a:srgbClr val="111111"/>
                </a:solidFill>
              </a:rPr>
              <a:t> fixes</a:t>
            </a:r>
          </a:p>
          <a:p>
            <a:r>
              <a:rPr sz="1200" dirty="0">
                <a:solidFill>
                  <a:srgbClr val="111111"/>
                </a:solidFill>
              </a:rPr>
              <a:t>• OOM at </a:t>
            </a:r>
            <a:r>
              <a:rPr sz="1200" dirty="0" err="1">
                <a:solidFill>
                  <a:srgbClr val="111111"/>
                </a:solidFill>
              </a:rPr>
              <a:t>micro_batch</a:t>
            </a:r>
            <a:r>
              <a:rPr sz="1200" dirty="0">
                <a:solidFill>
                  <a:srgbClr val="111111"/>
                </a:solidFill>
              </a:rPr>
              <a:t>=4, 2 → settled on 1</a:t>
            </a:r>
          </a:p>
          <a:p>
            <a:r>
              <a:rPr sz="1200" dirty="0">
                <a:solidFill>
                  <a:srgbClr val="111111"/>
                </a:solidFill>
              </a:rPr>
              <a:t>• NCCL timeout, ACT deadlock, </a:t>
            </a:r>
            <a:r>
              <a:rPr sz="1200" dirty="0" err="1">
                <a:solidFill>
                  <a:srgbClr val="111111"/>
                </a:solidFill>
              </a:rPr>
              <a:t>ClearML</a:t>
            </a:r>
            <a:r>
              <a:rPr sz="1200" dirty="0">
                <a:solidFill>
                  <a:srgbClr val="111111"/>
                </a:solidFill>
              </a:rPr>
              <a:t> 10-min hang</a:t>
            </a:r>
          </a:p>
          <a:p>
            <a:r>
              <a:rPr sz="1200" dirty="0">
                <a:solidFill>
                  <a:srgbClr val="111111"/>
                </a:solidFill>
              </a:rPr>
              <a:t>• Heaviest session: 113 SSH in ~12 </a:t>
            </a:r>
            <a:r>
              <a:rPr sz="1200" dirty="0" err="1">
                <a:solidFill>
                  <a:srgbClr val="111111"/>
                </a:solidFill>
              </a:rPr>
              <a:t>hrs</a:t>
            </a:r>
            <a:r>
              <a:rPr sz="1200" dirty="0">
                <a:solidFill>
                  <a:srgbClr val="111111"/>
                </a:solidFill>
              </a:rPr>
              <a:t> — ~1 SSH every 4.5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611880"/>
            <a:ext cx="54864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C93C20"/>
                </a:solidFill>
              </a:rPr>
              <a:t>Why it hurts</a:t>
            </a:r>
          </a:p>
          <a:p>
            <a:r>
              <a:rPr sz="1200" dirty="0">
                <a:solidFill>
                  <a:srgbClr val="111111"/>
                </a:solidFill>
              </a:rPr>
              <a:t>• Each hypothesis = a full submit → wait → read-log cycle</a:t>
            </a:r>
          </a:p>
          <a:p>
            <a:r>
              <a:rPr sz="1200" dirty="0">
                <a:solidFill>
                  <a:srgbClr val="111111"/>
                </a:solidFill>
              </a:rPr>
              <a:t>• 5–10 SSH round-trips per bug to diagnose + verify the fix</a:t>
            </a:r>
          </a:p>
          <a:p>
            <a:r>
              <a:rPr sz="1200" dirty="0">
                <a:solidFill>
                  <a:srgbClr val="111111"/>
                </a:solidFill>
              </a:rPr>
              <a:t>• </a:t>
            </a:r>
            <a:r>
              <a:rPr lang="en-US" sz="1200" dirty="0">
                <a:solidFill>
                  <a:srgbClr val="111111"/>
                </a:solidFill>
              </a:rPr>
              <a:t>Interactive compute-nodes in </a:t>
            </a:r>
            <a:r>
              <a:rPr lang="en-US" sz="1200" dirty="0" err="1">
                <a:solidFill>
                  <a:srgbClr val="111111"/>
                </a:solidFill>
              </a:rPr>
              <a:t>BlueVela</a:t>
            </a:r>
            <a:r>
              <a:rPr lang="en-US" sz="1200" dirty="0">
                <a:solidFill>
                  <a:srgbClr val="111111"/>
                </a:solidFill>
              </a:rPr>
              <a:t> are to be used scarcely </a:t>
            </a:r>
            <a:endParaRPr sz="1200" dirty="0">
              <a:solidFill>
                <a:srgbClr val="111111"/>
              </a:solidFill>
            </a:endParaRPr>
          </a:p>
          <a:p>
            <a:r>
              <a:rPr sz="1200" dirty="0">
                <a:solidFill>
                  <a:srgbClr val="111111"/>
                </a:solidFill>
              </a:rPr>
              <a:t>• Monitor loops poll </a:t>
            </a:r>
            <a:r>
              <a:rPr sz="1200" dirty="0" err="1">
                <a:solidFill>
                  <a:srgbClr val="111111"/>
                </a:solidFill>
              </a:rPr>
              <a:t>bjobs</a:t>
            </a:r>
            <a:r>
              <a:rPr sz="1200" dirty="0">
                <a:solidFill>
                  <a:srgbClr val="111111"/>
                </a:solidFill>
              </a:rPr>
              <a:t>/</a:t>
            </a:r>
            <a:r>
              <a:rPr sz="1200" dirty="0" err="1">
                <a:solidFill>
                  <a:srgbClr val="111111"/>
                </a:solidFill>
              </a:rPr>
              <a:t>bpeek</a:t>
            </a:r>
            <a:r>
              <a:rPr sz="1200" dirty="0">
                <a:solidFill>
                  <a:srgbClr val="111111"/>
                </a:solidFill>
              </a:rPr>
              <a:t> every 10–15 s just to detect state change</a:t>
            </a:r>
          </a:p>
          <a:p>
            <a:r>
              <a:rPr sz="1200" dirty="0">
                <a:solidFill>
                  <a:srgbClr val="111111"/>
                </a:solidFill>
              </a:rPr>
              <a:t>• Engineer time is dominated by plumbing — not modeling</a:t>
            </a:r>
            <a:endParaRPr lang="en-US" sz="1200" dirty="0">
              <a:solidFill>
                <a:srgbClr val="111111"/>
              </a:solidFill>
            </a:endParaRPr>
          </a:p>
          <a:p>
            <a:r>
              <a:rPr lang="en-US" sz="1200" dirty="0">
                <a:solidFill>
                  <a:srgbClr val="111111"/>
                </a:solidFill>
              </a:rPr>
              <a:t>• Does coding agent </a:t>
            </a:r>
            <a:r>
              <a:rPr lang="en-US" sz="1200" i="1" dirty="0">
                <a:solidFill>
                  <a:srgbClr val="111111"/>
                </a:solidFill>
              </a:rPr>
              <a:t>always </a:t>
            </a:r>
            <a:r>
              <a:rPr lang="en-US" sz="1200" dirty="0">
                <a:solidFill>
                  <a:srgbClr val="111111"/>
                </a:solidFill>
              </a:rPr>
              <a:t>follow instructions when you hand-over the SSH keys?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Hundreds of SSH hops to move a single idea from laptop to a running GPU job.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2A4A"/>
                </a:solidFill>
              </a:rPr>
              <a:t>Granite.build Agentic — safe sandbox + scale mediation</a:t>
            </a:r>
          </a:p>
          <a:p>
            <a:r>
              <a:rPr sz="1400" i="1">
                <a:solidFill>
                  <a:srgbClr val="555555"/>
                </a:solidFill>
              </a:rPr>
              <a:t>Collapse the submit-SSH-tail loop into submit → poll → inspect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25880"/>
            <a:ext cx="3840480" cy="2331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384048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bIns="27432" rtlCol="0" anchor="ctr"/>
          <a:lstStyle/>
          <a:p>
            <a:pPr algn="l"/>
            <a:r>
              <a:rPr sz="1300" b="1" dirty="0">
                <a:solidFill>
                  <a:srgbClr val="FFFFFF"/>
                </a:solidFill>
              </a:rPr>
              <a:t>Sandbox (</a:t>
            </a:r>
            <a:r>
              <a:rPr sz="1300" b="1" dirty="0" err="1">
                <a:solidFill>
                  <a:srgbClr val="FFFFFF"/>
                </a:solidFill>
              </a:rPr>
              <a:t>OpenShell</a:t>
            </a:r>
            <a:r>
              <a:rPr sz="1300" b="1" dirty="0">
                <a:solidFill>
                  <a:srgbClr val="FFFFFF"/>
                </a:solidFill>
              </a:rPr>
              <a:t> · k8s-sig)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764792"/>
            <a:ext cx="3621024" cy="569976"/>
          </a:xfrm>
          <a:prstGeom prst="rect">
            <a:avLst/>
          </a:prstGeom>
          <a:solidFill>
            <a:srgbClr val="F2F2F2"/>
          </a:solidFill>
          <a:ln w="63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</a:rPr>
              <a:t>Claude Code + MCP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2389632"/>
            <a:ext cx="3621024" cy="569976"/>
          </a:xfrm>
          <a:prstGeom prst="rect">
            <a:avLst/>
          </a:prstGeom>
          <a:solidFill>
            <a:srgbClr val="F2F2F2"/>
          </a:solidFill>
          <a:ln w="63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</a:rPr>
              <a:t>Git · Docker/Podman · 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3014472"/>
            <a:ext cx="3621024" cy="569976"/>
          </a:xfrm>
          <a:prstGeom prst="rect">
            <a:avLst/>
          </a:prstGeom>
          <a:solidFill>
            <a:srgbClr val="F2F2F2"/>
          </a:solidFill>
          <a:ln w="63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</a:rPr>
              <a:t>Local GPU (optional, for dev)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97680" y="2286000"/>
            <a:ext cx="502920" cy="365760"/>
          </a:xfrm>
          <a:prstGeom prst="rightArrow">
            <a:avLst/>
          </a:prstGeom>
          <a:solidFill>
            <a:srgbClr val="C93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0" y="1993392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1">
                <a:solidFill>
                  <a:srgbClr val="C93C20"/>
                </a:solidFill>
              </a:rPr>
              <a:t>MCP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325880"/>
            <a:ext cx="4846320" cy="2331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92040" y="1325880"/>
            <a:ext cx="484632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bIns="27432"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Granite.build (gbserver)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1768" y="1764792"/>
            <a:ext cx="4626864" cy="569976"/>
          </a:xfrm>
          <a:prstGeom prst="rect">
            <a:avLst/>
          </a:prstGeom>
          <a:solidFill>
            <a:srgbClr val="F2F2F2"/>
          </a:solidFill>
          <a:ln w="63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</a:rPr>
              <a:t>MCP Server — 10 tools (submit, status, discover, plans)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1768" y="2389632"/>
            <a:ext cx="4626864" cy="569976"/>
          </a:xfrm>
          <a:prstGeom prst="rect">
            <a:avLst/>
          </a:prstGeom>
          <a:solidFill>
            <a:srgbClr val="F2F2F2"/>
          </a:solidFill>
          <a:ln w="63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</a:rPr>
              <a:t>BuildWatch · BuildRunner · preflight 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1768" y="3014472"/>
            <a:ext cx="4626864" cy="569976"/>
          </a:xfrm>
          <a:prstGeom prst="rect">
            <a:avLst/>
          </a:prstGeom>
          <a:solidFill>
            <a:srgbClr val="F2F2F2"/>
          </a:solidFill>
          <a:ln w="63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</a:rPr>
              <a:t>Storage · Artifacts · Lineage · Provenance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829800" y="2286000"/>
            <a:ext cx="502920" cy="365760"/>
          </a:xfrm>
          <a:prstGeom prst="rightArrow">
            <a:avLst/>
          </a:prstGeom>
          <a:solidFill>
            <a:srgbClr val="C93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38360" y="1993392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1">
                <a:solidFill>
                  <a:srgbClr val="C93C20"/>
                </a:solidFill>
              </a:rPr>
              <a:t>dispatch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4160" y="1325880"/>
            <a:ext cx="1417320" cy="2331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424160" y="1325880"/>
            <a:ext cx="141732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bIns="27432"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Backends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33888" y="1764792"/>
            <a:ext cx="1197864" cy="569976"/>
          </a:xfrm>
          <a:prstGeom prst="rect">
            <a:avLst/>
          </a:prstGeom>
          <a:solidFill>
            <a:srgbClr val="F2F2F2"/>
          </a:solidFill>
          <a:ln w="63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</a:rPr>
              <a:t>Docker / Podman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33888" y="2389632"/>
            <a:ext cx="1197864" cy="569976"/>
          </a:xfrm>
          <a:prstGeom prst="rect">
            <a:avLst/>
          </a:prstGeom>
          <a:solidFill>
            <a:srgbClr val="F2F2F2"/>
          </a:solidFill>
          <a:ln w="63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</a:rPr>
              <a:t>RunPod (cloud)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33888" y="3014472"/>
            <a:ext cx="1197864" cy="569976"/>
          </a:xfrm>
          <a:prstGeom prst="rect">
            <a:avLst/>
          </a:prstGeom>
          <a:solidFill>
            <a:srgbClr val="F2F2F2"/>
          </a:solidFill>
          <a:ln w="63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</a:rPr>
              <a:t>SkyPilot · k8s · Slurm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703320"/>
            <a:ext cx="11521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>
                <a:solidFill>
                  <a:srgbClr val="555555"/>
                </a:solidFill>
              </a:rPr>
              <a:t>Backends fetch code (git), images (registry), and artifacts (S3 · HF · COS) directly — never through MCP or the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5669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B2A4A"/>
                </a:solidFill>
              </a:rPr>
              <a:t>a) Safe, persistent agent sandbox</a:t>
            </a:r>
          </a:p>
          <a:p>
            <a:r>
              <a:rPr sz="1200" dirty="0">
                <a:solidFill>
                  <a:srgbClr val="111111"/>
                </a:solidFill>
              </a:rPr>
              <a:t>• Persistent container, decoupled from laptop — survives across sessions</a:t>
            </a:r>
          </a:p>
          <a:p>
            <a:r>
              <a:rPr sz="1200" dirty="0">
                <a:solidFill>
                  <a:srgbClr val="111111"/>
                </a:solidFill>
              </a:rPr>
              <a:t>• Local GPU for prototyping before scaling out</a:t>
            </a:r>
          </a:p>
          <a:p>
            <a:r>
              <a:rPr sz="1200" dirty="0">
                <a:solidFill>
                  <a:srgbClr val="111111"/>
                </a:solidFill>
              </a:rPr>
              <a:t>• Safe execution: preflight checks, space-scoped credentials + artifacts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069080"/>
            <a:ext cx="54864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A4A"/>
                </a:solidFill>
              </a:rPr>
              <a:t>b) Granite.build as scale mediation</a:t>
            </a:r>
          </a:p>
          <a:p>
            <a:r>
              <a:rPr sz="1200">
                <a:solidFill>
                  <a:srgbClr val="111111"/>
                </a:solidFill>
              </a:rPr>
              <a:t>• Control plane only — specs pin commit SHAs + image URIs</a:t>
            </a:r>
          </a:p>
          <a:p>
            <a:r>
              <a:rPr sz="1200">
                <a:solidFill>
                  <a:srgbClr val="111111"/>
                </a:solidFill>
              </a:rPr>
              <a:t>• 10 MCP tools: discover steps/envs/quotas, submit, poll, retrieve</a:t>
            </a:r>
          </a:p>
          <a:p>
            <a:r>
              <a:rPr sz="1200">
                <a:solidFill>
                  <a:srgbClr val="111111"/>
                </a:solidFill>
              </a:rPr>
              <a:t>• Deterministic runs; artifact lineage and provenance by construction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Replace hundreds of SSH hops with a typed control plane — the agent submits, Granite.build runs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2A4A"/>
                </a:solidFill>
              </a:rPr>
              <a:t>From sandbox to at-scale — packaging + submission</a:t>
            </a:r>
          </a:p>
          <a:p>
            <a:r>
              <a:rPr sz="1400" i="1">
                <a:solidFill>
                  <a:srgbClr val="555555"/>
                </a:solidFill>
              </a:rPr>
              <a:t>Claude Code helps with development, packaging, AND the build.yaml submission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98648" y="1325880"/>
            <a:ext cx="6400800" cy="50292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Local dev iterations complete in the sandbox — code runs end-to-end</a:t>
            </a:r>
          </a:p>
        </p:txBody>
      </p:sp>
      <p:sp>
        <p:nvSpPr>
          <p:cNvPr id="4" name="Down Arrow 3"/>
          <p:cNvSpPr/>
          <p:nvPr/>
        </p:nvSpPr>
        <p:spPr>
          <a:xfrm>
            <a:off x="3017520" y="1920240"/>
            <a:ext cx="320040" cy="274320"/>
          </a:xfrm>
          <a:prstGeom prst="downArrow">
            <a:avLst/>
          </a:prstGeom>
          <a:solidFill>
            <a:srgbClr val="C93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own Arrow 4"/>
          <p:cNvSpPr/>
          <p:nvPr/>
        </p:nvSpPr>
        <p:spPr>
          <a:xfrm>
            <a:off x="8869680" y="1920240"/>
            <a:ext cx="320040" cy="274320"/>
          </a:xfrm>
          <a:prstGeom prst="downArrow">
            <a:avLst/>
          </a:prstGeom>
          <a:solidFill>
            <a:srgbClr val="C93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5669280" cy="24688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566928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bIns="27432" rtlCol="0" anchor="ctr"/>
          <a:lstStyle/>
          <a:p>
            <a:pPr algn="l"/>
            <a:r>
              <a:rPr sz="1300" b="1" dirty="0">
                <a:solidFill>
                  <a:srgbClr val="FFFFFF"/>
                </a:solidFill>
              </a:rPr>
              <a:t>Path A — Git push → Bring-Your-Own-Step (BYOS)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2724912"/>
            <a:ext cx="5449824" cy="615696"/>
          </a:xfrm>
          <a:prstGeom prst="rect">
            <a:avLst/>
          </a:prstGeom>
          <a:solidFill>
            <a:srgbClr val="F2F2F2"/>
          </a:solidFill>
          <a:ln w="63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r>
              <a:rPr sz="1100" b="1" dirty="0">
                <a:solidFill>
                  <a:srgbClr val="111111"/>
                </a:solidFill>
              </a:rPr>
              <a:t>Commit &amp; push to GitHub (pin commit SHA, not a branch ref)</a:t>
            </a:r>
            <a:r>
              <a:rPr lang="en-US" sz="1100" b="1" dirty="0">
                <a:solidFill>
                  <a:srgbClr val="111111"/>
                </a:solidFill>
              </a:rPr>
              <a:t>, capture faithful </a:t>
            </a:r>
            <a:r>
              <a:rPr lang="en-US" sz="1100" b="1" dirty="0" err="1">
                <a:solidFill>
                  <a:srgbClr val="111111"/>
                </a:solidFill>
              </a:rPr>
              <a:t>conda</a:t>
            </a:r>
            <a:r>
              <a:rPr lang="en-US" sz="1100" b="1" dirty="0">
                <a:solidFill>
                  <a:srgbClr val="111111"/>
                </a:solidFill>
              </a:rPr>
              <a:t>-env </a:t>
            </a:r>
            <a:endParaRPr sz="1100" b="1" dirty="0">
              <a:solidFill>
                <a:srgbClr val="11111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5488" y="3395472"/>
            <a:ext cx="5449824" cy="615696"/>
          </a:xfrm>
          <a:prstGeom prst="rect">
            <a:avLst/>
          </a:prstGeom>
          <a:solidFill>
            <a:srgbClr val="F2F2F2"/>
          </a:solidFill>
          <a:ln w="63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</a:rPr>
              <a:t>Claude Code authors a custom_code step (BYOS) referencing github_url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4066032"/>
            <a:ext cx="5449824" cy="615696"/>
          </a:xfrm>
          <a:prstGeom prst="rect">
            <a:avLst/>
          </a:prstGeom>
          <a:solidFill>
            <a:srgbClr val="F2F2F2"/>
          </a:solidFill>
          <a:ln w="63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r>
              <a:rPr sz="1100" b="1" dirty="0">
                <a:solidFill>
                  <a:srgbClr val="111111"/>
                </a:solidFill>
              </a:rPr>
              <a:t>Backend clones repo,</a:t>
            </a:r>
            <a:r>
              <a:rPr lang="en-US" sz="1100" b="1" dirty="0">
                <a:solidFill>
                  <a:srgbClr val="111111"/>
                </a:solidFill>
              </a:rPr>
              <a:t> </a:t>
            </a:r>
            <a:r>
              <a:rPr sz="1100" b="1" dirty="0">
                <a:solidFill>
                  <a:srgbClr val="111111"/>
                </a:solidFill>
              </a:rPr>
              <a:t>runs </a:t>
            </a:r>
            <a:r>
              <a:rPr sz="1100" b="1" dirty="0" err="1">
                <a:solidFill>
                  <a:srgbClr val="111111"/>
                </a:solidFill>
              </a:rPr>
              <a:t>setup_command</a:t>
            </a:r>
            <a:r>
              <a:rPr sz="1100" b="1" dirty="0">
                <a:solidFill>
                  <a:srgbClr val="111111"/>
                </a:solidFill>
              </a:rPr>
              <a:t> </a:t>
            </a:r>
            <a:r>
              <a:rPr lang="en-US" sz="1100" b="1" dirty="0">
                <a:solidFill>
                  <a:srgbClr val="111111"/>
                </a:solidFill>
              </a:rPr>
              <a:t>(reproduces Conda environment ) </a:t>
            </a:r>
            <a:r>
              <a:rPr sz="1100" b="1" dirty="0">
                <a:solidFill>
                  <a:srgbClr val="111111"/>
                </a:solidFill>
              </a:rPr>
              <a:t>then </a:t>
            </a:r>
            <a:r>
              <a:rPr sz="1100" b="1" dirty="0" err="1">
                <a:solidFill>
                  <a:srgbClr val="111111"/>
                </a:solidFill>
              </a:rPr>
              <a:t>start_command</a:t>
            </a:r>
            <a:endParaRPr sz="1100" b="1" dirty="0">
              <a:solidFill>
                <a:srgbClr val="11111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53912" y="2286000"/>
            <a:ext cx="5669280" cy="24688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53912" y="2286000"/>
            <a:ext cx="566928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bIns="27432"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Path B — Docker image → Bring-Your-Own-Image (BYOI)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724912"/>
            <a:ext cx="5449824" cy="615696"/>
          </a:xfrm>
          <a:prstGeom prst="rect">
            <a:avLst/>
          </a:prstGeom>
          <a:solidFill>
            <a:srgbClr val="F2F2F2"/>
          </a:solidFill>
          <a:ln w="63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 dirty="0">
                <a:solidFill>
                  <a:srgbClr val="111111"/>
                </a:solidFill>
              </a:rPr>
              <a:t>Claude Code writes </a:t>
            </a:r>
            <a:r>
              <a:rPr sz="1100" b="1" dirty="0" err="1">
                <a:solidFill>
                  <a:srgbClr val="111111"/>
                </a:solidFill>
              </a:rPr>
              <a:t>Dockerfile</a:t>
            </a:r>
            <a:r>
              <a:rPr sz="1100" b="1" dirty="0">
                <a:solidFill>
                  <a:srgbClr val="111111"/>
                </a:solidFill>
              </a:rPr>
              <a:t> — faithful </a:t>
            </a:r>
            <a:r>
              <a:rPr sz="1100" b="1" dirty="0" err="1">
                <a:solidFill>
                  <a:srgbClr val="111111"/>
                </a:solidFill>
              </a:rPr>
              <a:t>conda</a:t>
            </a:r>
            <a:r>
              <a:rPr sz="1100" b="1" dirty="0">
                <a:solidFill>
                  <a:srgbClr val="111111"/>
                </a:solidFill>
              </a:rPr>
              <a:t>-env reproduction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395472"/>
            <a:ext cx="5449824" cy="615696"/>
          </a:xfrm>
          <a:prstGeom prst="rect">
            <a:avLst/>
          </a:prstGeom>
          <a:solidFill>
            <a:srgbClr val="F2F2F2"/>
          </a:solidFill>
          <a:ln w="63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</a:rPr>
              <a:t>Build + push to registry with content-addressed tag (not :latest)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4066032"/>
            <a:ext cx="5449824" cy="615696"/>
          </a:xfrm>
          <a:prstGeom prst="rect">
            <a:avLst/>
          </a:prstGeom>
          <a:solidFill>
            <a:srgbClr val="F2F2F2"/>
          </a:solidFill>
          <a:ln w="63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</a:rPr>
              <a:t>Claude Code authors a custom_code step (BYOI) — backend pulls the image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017520" y="4800600"/>
            <a:ext cx="320040" cy="274320"/>
          </a:xfrm>
          <a:prstGeom prst="downArrow">
            <a:avLst/>
          </a:prstGeom>
          <a:solidFill>
            <a:srgbClr val="C93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8869680" y="4800600"/>
            <a:ext cx="320040" cy="274320"/>
          </a:xfrm>
          <a:prstGeom prst="downArrow">
            <a:avLst/>
          </a:prstGeom>
          <a:solidFill>
            <a:srgbClr val="C93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280160" y="5166360"/>
            <a:ext cx="9628632" cy="105156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280160" y="5166360"/>
            <a:ext cx="9628632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" bIns="27432" rtlCol="0" anchor="ctr"/>
          <a:lstStyle/>
          <a:p>
            <a:pPr algn="l"/>
            <a:r>
              <a:rPr sz="1300" b="1" dirty="0">
                <a:solidFill>
                  <a:srgbClr val="FFFFFF"/>
                </a:solidFill>
              </a:rPr>
              <a:t>Claude Code constructs the </a:t>
            </a:r>
            <a:r>
              <a:rPr sz="1300" b="1" dirty="0" err="1">
                <a:solidFill>
                  <a:srgbClr val="FFFFFF"/>
                </a:solidFill>
              </a:rPr>
              <a:t>build.yaml</a:t>
            </a:r>
            <a:r>
              <a:rPr sz="1300" b="1" dirty="0">
                <a:solidFill>
                  <a:srgbClr val="FFFFFF"/>
                </a:solidFill>
              </a:rPr>
              <a:t> → </a:t>
            </a:r>
            <a:r>
              <a:rPr sz="1300" b="1" dirty="0" err="1">
                <a:solidFill>
                  <a:srgbClr val="FFFFFF"/>
                </a:solidFill>
              </a:rPr>
              <a:t>submit_job</a:t>
            </a:r>
            <a:r>
              <a:rPr sz="1300" b="1" dirty="0">
                <a:solidFill>
                  <a:srgbClr val="FFFFFF"/>
                </a:solidFill>
              </a:rPr>
              <a:t> (</a:t>
            </a:r>
            <a:r>
              <a:rPr sz="1300" b="1" dirty="0" err="1">
                <a:solidFill>
                  <a:srgbClr val="FFFFFF"/>
                </a:solidFill>
              </a:rPr>
              <a:t>Granite.build</a:t>
            </a:r>
            <a:r>
              <a:rPr sz="1300" b="1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88" y="5605272"/>
            <a:ext cx="9409176" cy="242316"/>
          </a:xfrm>
          <a:prstGeom prst="rect">
            <a:avLst/>
          </a:prstGeom>
          <a:solidFill>
            <a:srgbClr val="F2F2F2"/>
          </a:solidFill>
          <a:ln w="63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</a:rPr>
              <a:t>At-scale execution on backends (Docker · RunPod · SkyPilot · k8s · Slurm)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89888" y="5902452"/>
            <a:ext cx="9409176" cy="242316"/>
          </a:xfrm>
          <a:prstGeom prst="rect">
            <a:avLst/>
          </a:prstGeom>
          <a:solidFill>
            <a:srgbClr val="F2F2F2"/>
          </a:solidFill>
          <a:ln w="635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111111"/>
                </a:solidFill>
              </a:rPr>
              <a:t>Artifacts registered automatically with lineage + provenance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Two paths, one control plane — Claude Code assists from the first commit to the last artifact.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2A4A"/>
                </a:solidFill>
              </a:rPr>
              <a:t>Flight plans + logbooks — external memory for experiments</a:t>
            </a:r>
          </a:p>
          <a:p>
            <a:r>
              <a:rPr sz="1400" i="1">
                <a:solidFill>
                  <a:srgbClr val="555555"/>
                </a:solidFill>
              </a:rPr>
              <a:t>The intent, the methodology, and the daily record — all durable and searchable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A4A"/>
                </a:solidFill>
              </a:rPr>
              <a:t>Flight plans: durable intent</a:t>
            </a:r>
          </a:p>
          <a:p>
            <a:r>
              <a:rPr sz="1300">
                <a:solidFill>
                  <a:srgbClr val="111111"/>
                </a:solidFill>
              </a:rPr>
              <a:t>• Co-authored with the agent in the sandbox; captures the what and the why</a:t>
            </a:r>
          </a:p>
          <a:p>
            <a:r>
              <a:rPr sz="1300">
                <a:solidFill>
                  <a:srgbClr val="111111"/>
                </a:solidFill>
              </a:rPr>
              <a:t>• Level 1 — Intent (human narrative)</a:t>
            </a:r>
          </a:p>
          <a:p>
            <a:r>
              <a:rPr sz="1300">
                <a:solidFill>
                  <a:srgbClr val="111111"/>
                </a:solidFill>
              </a:rPr>
              <a:t>• Level 2 — Methodology (structured steps, dependencies)</a:t>
            </a:r>
          </a:p>
          <a:p>
            <a:r>
              <a:rPr sz="1300">
                <a:solidFill>
                  <a:srgbClr val="111111"/>
                </a:solidFill>
              </a:rPr>
              <a:t>• Level 3 — Execution (build.yaml, derived at submit time)</a:t>
            </a:r>
          </a:p>
          <a:p>
            <a:r>
              <a:rPr sz="1300">
                <a:solidFill>
                  <a:srgbClr val="111111"/>
                </a:solidFill>
              </a:rPr>
              <a:t>• Append-only revision history; one plan spawns many builds as you iterate</a:t>
            </a:r>
          </a:p>
          <a:p>
            <a:r>
              <a:rPr sz="1300">
                <a:solidFill>
                  <a:srgbClr val="111111"/>
                </a:solidFill>
              </a:rPr>
              <a:t>• Every job carries plan_id → build → artifact — provenance by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13258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A4A"/>
                </a:solidFill>
              </a:rPr>
              <a:t>Logbooks: durable history</a:t>
            </a:r>
          </a:p>
          <a:p>
            <a:r>
              <a:rPr sz="1300">
                <a:solidFill>
                  <a:srgbClr val="111111"/>
                </a:solidFill>
              </a:rPr>
              <a:t>• Daily record of what was achieved, decided, or ruled out — not raw transcripts</a:t>
            </a:r>
          </a:p>
          <a:p>
            <a:r>
              <a:rPr sz="1300">
                <a:solidFill>
                  <a:srgbClr val="111111"/>
                </a:solidFill>
              </a:rPr>
              <a:t>• Searchable, shareable, persistent external record of agent sessions</a:t>
            </a:r>
          </a:p>
          <a:p>
            <a:r>
              <a:rPr sz="1300">
                <a:solidFill>
                  <a:srgbClr val="111111"/>
                </a:solidFill>
              </a:rPr>
              <a:t>• Future retrieval: answer months later why micro_batch=1 or why MLA over GQA</a:t>
            </a:r>
          </a:p>
          <a:p>
            <a:r>
              <a:rPr sz="1300">
                <a:solidFill>
                  <a:srgbClr val="111111"/>
                </a:solidFill>
              </a:rPr>
              <a:t>• Example: the 475-SSH audit was reconstructed from session transcripts — logbooks make this first-class</a:t>
            </a:r>
          </a:p>
          <a:p>
            <a:r>
              <a:rPr sz="1300">
                <a:solidFill>
                  <a:srgbClr val="111111"/>
                </a:solidFill>
              </a:rPr>
              <a:t>• Pairs with flight plans: the plan says what we meant to do, the logbook says what actually happened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Conversations end. Flight plans and logbooks remain — and can be searched, shared, and resumed.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931</Words>
  <Application>Microsoft Macintosh PowerPoint</Application>
  <PresentationFormat>Custom</PresentationFormat>
  <Paragraphs>85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PETROS ZERFOS</cp:lastModifiedBy>
  <cp:revision>11</cp:revision>
  <dcterms:created xsi:type="dcterms:W3CDTF">2013-01-27T09:14:16Z</dcterms:created>
  <dcterms:modified xsi:type="dcterms:W3CDTF">2026-04-28T18:10:47Z</dcterms:modified>
  <cp:category/>
</cp:coreProperties>
</file>